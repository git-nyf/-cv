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汇报的项目是“基于YOLOv12的中药饮片智能识别与分类系统”。本项目旨在利用先进的人工智能技术，解决传统中医药领域的实际问题。目前，我们已经成功构建并验证了中药饮片的分类识别闭环系统，实现了从图像上传到在线识别的完整流程。同时，我们也为下一阶段更复杂的目标检测任务完成了关键的标注准备工作。接下来，我将详细介绍我们的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围绕六个核心部分展开。首先，我们会明确项目的系统目标；其次，概述系统实现的各项功能；接着，深入介绍我们选用的基础模型结构和核心算法流程；然后，展示我们已经完成的实验结果和性能指标；最后，我们会坦诚地分析当前存在的问题，并提出后续的改进计划。整个汇报将系统性地介绍我们的项目全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目标是多维度的。首先，核心业务目标是实现对92类中药饮片的自动识别。其次，我们追求工程闭环，构建了一个从数据输入到前端展示的完整自动化系统。第三，我们强调科学严谨性，确保所有实验结果都是可复现的。最后，我们具备前瞻性，为未来的目标检测任务做好了数据准备。目前，我们的模型在9567张图片上达到了Top-1准确率63%，Top-5准确率86%的性能。需要强调的是，目前所有指标都针对分类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从功能上看，我们的系统非常完整。前端提供了图片上传、结果展示、模型选择等核心交互功能，并为未来的目标检测和摄像头实时识别预留了入口。后端则通过标准的API接口提供服务，包括健康检查、模型列表和核心的分类接口。此外，我们还开发了一系列工程脚本，实现了数据处理、模型训练和评估的全流程自动化。目前，整个系统已经可以在本地环境完整启动，真正实现了端到端的功能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项目的核心是YOLOv12n-cls模型。我们选择了专为分类任务设计的nano版本，以平衡性能和效率。模型输入尺寸为224x224，针对92个类别进行优化。我们采用了迁移学习策略，利用预训练权重进行微调，这相当于“站在巨人的肩膀上”，让模型能快速学习到中药饮片的细微特征。整个训练过程在GPU上进行了100个epoch，确保模型得到充分训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核心设计不仅仅是模型算法，更在于构建了一套完整的工程流程。这个流程从原始数据读取开始，经过严格的数据清洗和质量审计，再到模型训练、验证，最后通过FastAPI封装成服务，并由Vue前端展示。其中，数据质量控制和模型服务化是两个关键环节。前者保证了模型输入的是高质量数据，后者则实现了技术价值的转化，让用户能够真正使用我们的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优化策略的有效性，我们进行了对比实验。旧的基准模型在CPU上仅训练5个epoch，且未使用预训练，其Top-1准确率仅为17.7%。而我们优化后的新模型，在GPU上充分训练了100个epoch，并采用了迁移学习，Top-1准确率大幅提升至63.0%，Top-5准确率更是达到了86.2%。这个巨大的性能提升，充分证明了我们优化方案的正确性和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训练曲线图直观地展示了模型的学习过程。我们可以看到，随着训练轮次的增加，损失函数持续下降，而Top-1和Top-5准确率稳步提升，并在100个epoch后趋于稳定，这表明模型已经充分收敛。右侧的截图则展示了我们系统的实际运行效果，用户上传一张药材图片，系统就能快速给出Top-5的识别结果。当然，我们也认识到，对于一些形态非常相似的难样本，模型仍有一定的误判率，这也是我们下一步需要改进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清醒地认识到项目目前存在的局限。首先，中药饮片的细粒度分类本身难度很大，模型仍有提升空间。其次，我们在数据中发现了34组跨类别重复的图片，这需要人工介入进行决策。最重要的是，我们必须明确，目前所有汇报的指标都仅针对分类任务，目标检测任务尚未开始，因此无法提供相关指标。坦诚地面对这些问题，是我们持续改进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针对当前问题，我们制定了清晰的后续改进计划。短期内，我们将优先进行数据清理，解决重复图片问题并重新训练模型。中期，我们将通过模型升级、提升输入尺寸和超参数调优等方式，进一步提升分类精度。长期来看，在分类任务成熟可靠的基础上，我们将启动并完成更具挑战性的目标检测任务。我们的整体策略是“先数据、后模型，先分类、后检测”，确保每一步都扎实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10.xml" Type="http://schemas.openxmlformats.org/officeDocument/2006/relationships/notesSlid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762000" y="2133600"/>
            <a:ext cx="10668000" cy="1524000"/>
          </a:xfrm>
          <a:prstGeom prst="rect">
            <a:avLst/>
          </a:prstGeom>
          <a:noFill/>
          <a:ln w="12700" cmpd="sng" cap="flat">
            <a:noFill/>
            <a:prstDash val="solid"/>
            <a:round/>
          </a:ln>
        </p:spPr>
        <p:txBody>
          <a:bodyPr anchor="t" rtlCol="false" anchorCtr="false" vert="horz" wrap="square" lIns="88900" rIns="88900" tIns="50800" bIns="50800"/>
          <a:lstStyle/>
          <a:p>
            <a:pPr algn="ctr" marL="0" indent="0">
              <a:lnSpc>
                <a:spcPct val="100000"/>
              </a:lnSpc>
              <a:defRPr/>
            </a:pPr>
            <a:r>
              <a:rPr lang="en-US" b="true" i="false" strike="noStrike" u="none" sz="4000">
                <a:solidFill>
                  <a:srgbClr val="000000"/>
                </a:solidFill>
                <a:latin typeface="微软雅黑"/>
                <a:ea typeface="微软雅黑"/>
                <a:cs typeface="微软雅黑"/>
                <a:sym typeface="微软雅黑"/>
              </a:rPr>
              <a:t>基于 YOLOv12 的中药饮片智能识别与分类系统</a:t>
            </a:r>
            <a:endParaRPr lang="en-US" sz="1100"/>
          </a:p>
        </p:txBody>
      </p:sp>
      <p:sp>
        <p:nvSpPr>
          <p:cNvPr name="AutoShape 5" id="5"/>
          <p:cNvSpPr/>
          <p:nvPr/>
        </p:nvSpPr>
        <p:spPr>
          <a:xfrm rot="0" flipH="false" flipV="false">
            <a:off x="762000" y="3848100"/>
            <a:ext cx="10668000" cy="762000"/>
          </a:xfrm>
          <a:prstGeom prst="rect">
            <a:avLst/>
          </a:prstGeom>
          <a:noFill/>
          <a:ln w="12700" cmpd="sng" cap="flat">
            <a:noFill/>
            <a:prstDash val="solid"/>
            <a:round/>
          </a:ln>
        </p:spPr>
        <p:txBody>
          <a:bodyPr anchor="t" rtlCol="false" anchorCtr="false" vert="horz" wrap="square" lIns="88900" rIns="88900" tIns="50800" bIns="50800"/>
          <a:lstStyle/>
          <a:p>
            <a:pPr algn="ctr" marL="0" indent="0">
              <a:lnSpc>
                <a:spcPct val="100000"/>
              </a:lnSpc>
              <a:defRPr/>
            </a:pPr>
            <a:r>
              <a:rPr lang="en-US" b="true" i="false" strike="noStrike" u="none" sz="2400">
                <a:solidFill>
                  <a:srgbClr val="4874CB"/>
                </a:solidFill>
                <a:latin typeface="微软雅黑"/>
                <a:ea typeface="微软雅黑"/>
                <a:cs typeface="微软雅黑"/>
                <a:sym typeface="微软雅黑"/>
              </a:rPr>
              <a:t>中药饮片图像分类识别、前后端推理展示与检测标注准备</a:t>
            </a:r>
            <a:endParaRPr lang="en-US" sz="1100"/>
          </a:p>
        </p:txBody>
      </p:sp>
      <p:sp>
        <p:nvSpPr>
          <p:cNvPr name="AutoShape 6" id="6"/>
          <p:cNvSpPr/>
          <p:nvPr/>
        </p:nvSpPr>
        <p:spPr>
          <a:xfrm rot="0" flipH="false" flipV="false">
            <a:off x="762000" y="5334000"/>
            <a:ext cx="10668000" cy="1016000"/>
          </a:xfrm>
          <a:prstGeom prst="rect">
            <a:avLst/>
          </a:prstGeom>
          <a:noFill/>
          <a:ln w="12700" cmpd="sng" cap="flat">
            <a:noFill/>
            <a:prstDash val="solid"/>
            <a:round/>
          </a:ln>
        </p:spPr>
        <p:txBody>
          <a:bodyPr anchor="t" rtlCol="false" anchorCtr="false" vert="horz" wrap="square" lIns="88900" rIns="88900" tIns="50800" bIns="50800"/>
          <a:lstStyle/>
          <a:p>
            <a:pPr algn="ctr" marL="0" indent="0">
              <a:lnSpc>
                <a:spcPct val="108333"/>
              </a:lnSpc>
              <a:defRPr/>
            </a:pPr>
            <a:r>
              <a:rPr lang="en-US" b="true" i="false" strike="noStrike" u="none" sz="2000">
                <a:solidFill>
                  <a:srgbClr val="000000"/>
                </a:solidFill>
                <a:latin typeface="微软雅黑"/>
                <a:ea typeface="微软雅黑"/>
                <a:cs typeface="微软雅黑"/>
                <a:sym typeface="微软雅黑"/>
              </a:rPr>
              <a:t>小组成员：算法组（张三、李四、王五） | 日期：2026.6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项目汇报核心内容概览</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系统性介绍项目从目标设定、技术选型到工程落地的全流程关键节点</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54000" marL="254000">
              <a:lnSpc>
                <a:spcPct val="91666"/>
              </a:lnSpc>
              <a:spcBef>
                <a:spcPts val="1000"/>
              </a:spcBef>
              <a:buClr>
                <a:srgbClr val="000000"/>
              </a:buClr>
              <a:buFont typeface="Arial"/>
              <a:buChar char="•"/>
              <a:defRPr/>
            </a:pPr>
            <a:r>
              <a:rPr lang="en-US" b="false" i="false" strike="noStrike" u="none" sz="2000">
                <a:solidFill>
                  <a:srgbClr val="000000"/>
                </a:solidFill>
                <a:latin typeface="Songti SC"/>
                <a:ea typeface="Songti SC"/>
                <a:cs typeface="Songti SC"/>
                <a:sym typeface="Songti SC"/>
              </a:rPr>
              <a:t>系统目标：明确项目建设的核心方向，确立模型性能与工程落地的关键衡量标准</a:t>
            </a:r>
            <a:r>
              <a:rPr lang="en-US" b="false" i="false" strike="noStrike" u="none" sz="2000">
                <a:solidFill>
                  <a:srgbClr val="000000"/>
                </a:solidFill>
                <a:latin typeface="Songti SC"/>
                <a:ea typeface="Songti SC"/>
                <a:cs typeface="Songti SC"/>
                <a:sym typeface="Songti SC"/>
              </a:rPr>
              <a:t/>
            </a:r>
            <a:endParaRPr lang="en-US" sz="1100"/>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功能概述：全面介绍系统前端交互、后端逻辑处理及工程化部署的核心功能模块</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基础模型结构：深度解析选用的YOLOv12分类模型架构，阐述其适配场景与技术优势</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核心算法与工程流程：展示从数据采集、预处理到模型训练、推理部署的完整工作流</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已完成实验结果：呈现模型在验证集与测试集上的Loss曲线、准确率等关键性能指标对比</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当前问题与后续改进：分析现有系统存在的技术瓶颈，规划模型优化与功能迭代的未来路线</a:t>
            </a:r>
          </a:p>
        </p:txBody>
      </p:sp>
      <p:sp>
        <p:nvSpPr>
          <p:cNvPr name="AutoShape 7" id="7"/>
          <p:cNvSpPr/>
          <p:nvPr/>
        </p:nvSpPr>
        <p:spPr>
          <a:xfrm rot="0" flipH="false" flipV="false">
            <a:off x="2667000" y="5499100"/>
            <a:ext cx="7620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聚焦核心技术实现与工程落地，后续将持续迭代优化模型精度与系统稳定性</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中药饮片识别系统目标与成果</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面向92类中药饮片构建全流程工程闭环，实现自动识别与成果可复现</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54000" marL="254000">
              <a:lnSpc>
                <a:spcPct val="91666"/>
              </a:lnSpc>
              <a:spcBef>
                <a:spcPts val="1000"/>
              </a:spcBef>
              <a:buClr>
                <a:srgbClr val="000000"/>
              </a:buClr>
              <a:buFont typeface="Arial"/>
              <a:buChar char="•"/>
              <a:defRPr/>
            </a:pPr>
            <a:r>
              <a:rPr lang="en-US" b="true" i="false" strike="noStrike" u="none" sz="2000">
                <a:solidFill>
                  <a:srgbClr val="000000"/>
                </a:solidFill>
                <a:latin typeface="Songti SC"/>
                <a:ea typeface="Songti SC"/>
                <a:cs typeface="Songti SC"/>
                <a:sym typeface="Songti SC"/>
              </a:rPr>
              <a:t>核心任务：</a:t>
            </a:r>
            <a:r>
              <a:rPr lang="en-US" b="false" i="false" strike="noStrike" u="none" sz="2000">
                <a:solidFill>
                  <a:srgbClr val="000000"/>
                </a:solidFill>
                <a:latin typeface="Songti SC"/>
                <a:ea typeface="Songti SC"/>
                <a:cs typeface="Songti SC"/>
                <a:sym typeface="Songti SC"/>
              </a:rPr>
              <a:t>完成92类中药饮片图片的自动类别识别，建立从数据清洗到前端展示的完整工程闭环体系。</a:t>
            </a:r>
            <a:endParaRPr lang="en-US" sz="1100"/>
          </a:p>
          <a:p>
            <a:pPr algn="just" indent="-254000" marL="254000">
              <a:lnSpc>
                <a:spcPct val="91666"/>
              </a:lnSpc>
              <a:spcBef>
                <a:spcPts val="1000"/>
              </a:spcBef>
              <a:buClr>
                <a:srgbClr val="000000"/>
              </a:buClr>
              <a:buFont typeface="Arial"/>
              <a:buChar char="•"/>
            </a:pPr>
            <a:r>
              <a:rPr lang="en-US" b="true" i="false" strike="noStrike" u="none" sz="2000">
                <a:solidFill>
                  <a:srgbClr val="000000"/>
                </a:solidFill>
                <a:latin typeface="Songti SC"/>
                <a:ea typeface="Songti SC"/>
                <a:cs typeface="Songti SC"/>
                <a:sym typeface="Songti SC"/>
              </a:rPr>
              <a:t>科学产出：</a:t>
            </a:r>
            <a:r>
              <a:rPr lang="en-US" b="false" i="false" strike="noStrike" u="none" sz="2000">
                <a:solidFill>
                  <a:srgbClr val="000000"/>
                </a:solidFill>
                <a:latin typeface="Songti SC"/>
                <a:ea typeface="Songti SC"/>
                <a:cs typeface="Songti SC"/>
                <a:sym typeface="Songti SC"/>
              </a:rPr>
              <a:t>形成可复现的实验产物，涵盖实验配置、模型权重文件、关键评估指标及完整分析报告。</a:t>
            </a:r>
          </a:p>
          <a:p>
            <a:pPr algn="just" indent="-254000" marL="254000">
              <a:lnSpc>
                <a:spcPct val="91666"/>
              </a:lnSpc>
              <a:spcBef>
                <a:spcPts val="1000"/>
              </a:spcBef>
              <a:buClr>
                <a:srgbClr val="000000"/>
              </a:buClr>
              <a:buFont typeface="Arial"/>
              <a:buChar char="•"/>
            </a:pPr>
            <a:r>
              <a:rPr lang="en-US" b="true" i="false" strike="noStrike" u="none" sz="2000">
                <a:solidFill>
                  <a:srgbClr val="000000"/>
                </a:solidFill>
                <a:latin typeface="Songti SC"/>
                <a:ea typeface="Songti SC"/>
                <a:cs typeface="Songti SC"/>
                <a:sym typeface="Songti SC"/>
              </a:rPr>
              <a:t>核心指标：</a:t>
            </a:r>
            <a:r>
              <a:rPr lang="en-US" b="false" i="false" strike="noStrike" u="none" sz="2000">
                <a:solidFill>
                  <a:srgbClr val="000000"/>
                </a:solidFill>
                <a:latin typeface="Songti SC"/>
                <a:ea typeface="Songti SC"/>
                <a:cs typeface="Songti SC"/>
                <a:sym typeface="Songti SC"/>
              </a:rPr>
              <a:t>基于9567张Strict分类图片训练，模型Top-1准确率达0.6295，Top-5准确率达0.8621。</a:t>
            </a:r>
          </a:p>
          <a:p>
            <a:pPr algn="just" indent="-254000" marL="254000">
              <a:lnSpc>
                <a:spcPct val="91666"/>
              </a:lnSpc>
              <a:spcBef>
                <a:spcPts val="1000"/>
              </a:spcBef>
              <a:buClr>
                <a:srgbClr val="000000"/>
              </a:buClr>
              <a:buFont typeface="Arial"/>
              <a:buChar char="•"/>
            </a:pPr>
            <a:r>
              <a:rPr lang="en-US" b="true" i="false" strike="noStrike" u="none" sz="2000">
                <a:solidFill>
                  <a:srgbClr val="000000"/>
                </a:solidFill>
                <a:latin typeface="Songti SC"/>
                <a:ea typeface="Songti SC"/>
                <a:cs typeface="Songti SC"/>
                <a:sym typeface="Songti SC"/>
              </a:rPr>
              <a:t>前瞻布局：</a:t>
            </a:r>
            <a:r>
              <a:rPr lang="en-US" b="false" i="false" strike="noStrike" u="none" sz="2000">
                <a:solidFill>
                  <a:srgbClr val="000000"/>
                </a:solidFill>
                <a:latin typeface="Songti SC"/>
                <a:ea typeface="Songti SC"/>
                <a:cs typeface="Songti SC"/>
                <a:sym typeface="Songti SC"/>
              </a:rPr>
              <a:t>提前完成BBox人工标注包的准备工作，为后续中药饮片目标检测任务奠定数据基础。</a:t>
            </a:r>
          </a:p>
        </p:txBody>
      </p:sp>
      <p:sp>
        <p:nvSpPr>
          <p:cNvPr name="AutoShape 7" id="7"/>
          <p:cNvSpPr/>
          <p:nvPr/>
        </p:nvSpPr>
        <p:spPr>
          <a:xfrm rot="0" flipH="false" flipV="false">
            <a:off x="1282700" y="5499100"/>
            <a:ext cx="9525000" cy="5080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边界提示：当前系统可信主线为分类识别任务，目标检测相关指标需待BBox标注完成后开展验证</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系统功能概述</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构建端到端AI系统：前端交互、后端服务与工程化体系深度融合</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28600" marL="228600">
              <a:lnSpc>
                <a:spcPct val="108333"/>
              </a:lnSpc>
              <a:buClr>
                <a:srgbClr val="4874CB"/>
              </a:buClr>
              <a:buFont typeface="Arial"/>
              <a:buChar char="•"/>
              <a:defRPr/>
            </a:pPr>
            <a:r>
              <a:rPr lang="en-US" b="true" i="false" strike="noStrike" u="none" sz="1800">
                <a:solidFill>
                  <a:srgbClr val="4874CB"/>
                </a:solidFill>
                <a:latin typeface="Songti SC"/>
                <a:ea typeface="Songti SC"/>
                <a:cs typeface="Songti SC"/>
                <a:sym typeface="Songti SC"/>
              </a:rPr>
              <a:t>前端交互层：</a:t>
            </a:r>
            <a:r>
              <a:rPr lang="en-US" b="false" i="false" strike="noStrike" u="none" sz="1800">
                <a:solidFill>
                  <a:srgbClr val="000000"/>
                </a:solidFill>
                <a:latin typeface="Songti SC"/>
                <a:ea typeface="Songti SC"/>
                <a:cs typeface="Songti SC"/>
                <a:sym typeface="Songti SC"/>
              </a:rPr>
              <a:t>提供图片上传与识别入口，支持Top-k分类结果可视化展示，可灵活切换模型权重；同时预留目标检测、摄像头实时采集入口，为功能扩展预留空间。</a:t>
            </a:r>
            <a:endParaRPr lang="en-US" sz="1100"/>
          </a:p>
          <a:p>
            <a:pPr algn="just" indent="-228600" marL="228600">
              <a:lnSpc>
                <a:spcPct val="108333"/>
              </a:lnSpc>
              <a:buClr>
                <a:srgbClr val="4874CB"/>
              </a:buClr>
              <a:buFont typeface="Arial"/>
              <a:buChar char="•"/>
            </a:pPr>
            <a:r>
              <a:rPr lang="en-US" b="true" i="false" strike="noStrike" u="none" sz="1800">
                <a:solidFill>
                  <a:srgbClr val="4874CB"/>
                </a:solidFill>
                <a:latin typeface="Songti SC"/>
                <a:ea typeface="Songti SC"/>
                <a:cs typeface="Songti SC"/>
                <a:sym typeface="Songti SC"/>
              </a:rPr>
              <a:t>后端服务层：</a:t>
            </a:r>
            <a:r>
              <a:rPr lang="en-US" b="false" i="false" strike="noStrike" u="none" sz="1800">
                <a:solidFill>
                  <a:srgbClr val="000000"/>
                </a:solidFill>
                <a:latin typeface="Songti SC"/>
                <a:ea typeface="Songti SC"/>
                <a:cs typeface="Songti SC"/>
                <a:sym typeface="Songti SC"/>
              </a:rPr>
              <a:t>通过标准化RESTful API对外提供服务，包含/health健康检查、/models模型权重列表查询、/classify/image核心图片分类接口，以及预留的/detect/image检测接口。</a:t>
            </a:r>
          </a:p>
          <a:p>
            <a:pPr algn="just" indent="-228600" marL="228600">
              <a:lnSpc>
                <a:spcPct val="108333"/>
              </a:lnSpc>
              <a:buClr>
                <a:srgbClr val="4874CB"/>
              </a:buClr>
              <a:buFont typeface="Arial"/>
              <a:buChar char="•"/>
            </a:pPr>
            <a:r>
              <a:rPr lang="en-US" b="true" i="false" strike="noStrike" u="none" sz="1800">
                <a:solidFill>
                  <a:srgbClr val="4874CB"/>
                </a:solidFill>
                <a:latin typeface="Songti SC"/>
                <a:ea typeface="Songti SC"/>
                <a:cs typeface="Songti SC"/>
                <a:sym typeface="Songti SC"/>
              </a:rPr>
              <a:t>工程支撑层：</a:t>
            </a:r>
            <a:r>
              <a:rPr lang="en-US" b="false" i="false" strike="noStrike" u="none" sz="1800">
                <a:solidFill>
                  <a:srgbClr val="000000"/>
                </a:solidFill>
                <a:latin typeface="Songti SC"/>
                <a:ea typeface="Songti SC"/>
                <a:cs typeface="Songti SC"/>
                <a:sym typeface="Songti SC"/>
              </a:rPr>
              <a:t>配套完善的自动化脚本体系，涵盖数据清洗预处理、模型训练与评估全流程自动化，支持Benchmark性能测试与分析报告自动生成，保障系统稳定性与可复现性。</a:t>
            </a:r>
          </a:p>
        </p:txBody>
      </p:sp>
      <p:sp>
        <p:nvSpPr>
          <p:cNvPr name="AutoShape 7" id="7"/>
          <p:cNvSpPr/>
          <p:nvPr/>
        </p:nvSpPr>
        <p:spPr>
          <a:xfrm rot="0" flipH="false" flipV="false">
            <a:off x="1282700" y="5499100"/>
            <a:ext cx="9525000" cy="5080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true" i="false" strike="noStrike" u="none" sz="1800">
                <a:solidFill>
                  <a:srgbClr val="FF0000"/>
                </a:solidFill>
                <a:latin typeface="微软雅黑"/>
                <a:ea typeface="微软雅黑"/>
                <a:cs typeface="微软雅黑"/>
                <a:sym typeface="微软雅黑"/>
              </a:rPr>
              <a:t>系统访问入口：</a:t>
            </a:r>
            <a:r>
              <a:rPr lang="en-US" b="false" i="false" strike="noStrike" u="none" sz="1600">
                <a:solidFill>
                  <a:srgbClr val="1F2329"/>
                </a:solidFill>
                <a:latin typeface="Noto Sans SC"/>
                <a:ea typeface="Noto Sans SC"/>
                <a:cs typeface="Noto Sans SC"/>
                <a:sym typeface="Noto Sans SC"/>
              </a:rPr>
              <a:t>前端服务 http://127.0.0.1:5173 | 后端API服务 http://127.0.0.1:8000</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基础模型结构：YOLOv12n-cls</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基于迁移学习的轻量级架构，专为中药饮片细粒度分类任务深度优化</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41300" marL="241300">
              <a:lnSpc>
                <a:spcPct val="108333"/>
              </a:lnSpc>
              <a:spcBef>
                <a:spcPts val="800"/>
              </a:spcBef>
              <a:buClr>
                <a:srgbClr val="000000"/>
              </a:buClr>
              <a:buFont typeface="Arial"/>
              <a:buChar char="•"/>
              <a:defRPr/>
            </a:pPr>
            <a:r>
              <a:rPr lang="en-US" b="true" i="false" strike="noStrike" u="none" sz="1900">
                <a:solidFill>
                  <a:srgbClr val="000000"/>
                </a:solidFill>
                <a:latin typeface="Songti SC"/>
                <a:ea typeface="Songti SC"/>
                <a:cs typeface="Songti SC"/>
                <a:sym typeface="Songti SC"/>
              </a:rPr>
              <a:t>核心配置参数：</a:t>
            </a:r>
            <a:r>
              <a:rPr lang="en-US" b="false" i="false" strike="noStrike" u="none" sz="1800">
                <a:solidFill>
                  <a:srgbClr val="000000"/>
                </a:solidFill>
                <a:latin typeface="Songti SC"/>
                <a:ea typeface="Songti SC"/>
                <a:cs typeface="Songti SC"/>
                <a:sym typeface="Songti SC"/>
              </a:rPr>
              <a:t>采用yolo12n-cls.yaml配置，任务类型为图像分类，输入尺寸224×224适配92类中药饮片；使用AdamW优化器，基于GPU完成100 Epoch全量训练，开启预训练权重迁移学习模式。</a:t>
            </a:r>
            <a:endParaRPr lang="en-US" sz="1100"/>
          </a:p>
          <a:p>
            <a:pPr algn="just" indent="-241300" marL="241300">
              <a:lnSpc>
                <a:spcPct val="108333"/>
              </a:lnSpc>
              <a:spcBef>
                <a:spcPts val="800"/>
              </a:spcBef>
              <a:buClr>
                <a:srgbClr val="000000"/>
              </a:buClr>
              <a:buFont typeface="Arial"/>
              <a:buChar char="•"/>
            </a:pPr>
            <a:r>
              <a:rPr lang="en-US" b="true" i="false" strike="noStrike" u="none" sz="1900">
                <a:solidFill>
                  <a:srgbClr val="000000"/>
                </a:solidFill>
                <a:latin typeface="Songti SC"/>
                <a:ea typeface="Songti SC"/>
                <a:cs typeface="Songti SC"/>
                <a:sym typeface="Songti SC"/>
              </a:rPr>
              <a:t>三层网络架构：</a:t>
            </a:r>
            <a:r>
              <a:rPr lang="en-US" b="false" i="false" strike="noStrike" u="none" sz="1800">
                <a:solidFill>
                  <a:srgbClr val="000000"/>
                </a:solidFill>
                <a:latin typeface="Songti SC"/>
                <a:ea typeface="Songti SC"/>
                <a:cs typeface="Songti SC"/>
                <a:sym typeface="Songti SC"/>
              </a:rPr>
              <a:t>Backbone负责提取边缘、纹理、形状等底层视觉特征；Neck层实现多尺度特征融合增强表达；Classification Head输出92类概率分布，完成最终分类决策。</a:t>
            </a:r>
          </a:p>
          <a:p>
            <a:pPr algn="just" indent="-241300" marL="241300">
              <a:lnSpc>
                <a:spcPct val="108333"/>
              </a:lnSpc>
              <a:spcBef>
                <a:spcPts val="800"/>
              </a:spcBef>
              <a:buClr>
                <a:srgbClr val="000000"/>
              </a:buClr>
              <a:buFont typeface="Arial"/>
              <a:buChar char="•"/>
            </a:pPr>
            <a:r>
              <a:rPr lang="en-US" b="true" i="false" strike="noStrike" u="none" sz="1900">
                <a:solidFill>
                  <a:srgbClr val="000000"/>
                </a:solidFill>
                <a:latin typeface="Songti SC"/>
                <a:ea typeface="Songti SC"/>
                <a:cs typeface="Songti SC"/>
                <a:sym typeface="Songti SC"/>
              </a:rPr>
              <a:t>迁移学习优势：</a:t>
            </a:r>
            <a:r>
              <a:rPr lang="en-US" b="false" i="false" strike="noStrike" u="none" sz="1800">
                <a:solidFill>
                  <a:srgbClr val="000000"/>
                </a:solidFill>
                <a:latin typeface="Songti SC"/>
                <a:ea typeface="Songti SC"/>
                <a:cs typeface="Songti SC"/>
                <a:sym typeface="Songti SC"/>
              </a:rPr>
              <a:t>复用ImageNet预训练权重进行微调，让模型快速掌握中药饮片复杂的纹理特征，大幅降低小样本场景下的过拟合风险，提升细粒度分类的准确率与泛化能力。</a:t>
            </a:r>
          </a:p>
        </p:txBody>
      </p:sp>
      <p:sp>
        <p:nvSpPr>
          <p:cNvPr name="AutoShape 7" id="7"/>
          <p:cNvSpPr/>
          <p:nvPr/>
        </p:nvSpPr>
        <p:spPr>
          <a:xfrm rot="0" flipH="false" flipV="false">
            <a:off x="1282700" y="5499100"/>
            <a:ext cx="9525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预训练权重迁移+小批量精细调优，攻克中药纹理复杂、特征难辨的核心痛点</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核心流程设计</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构建从数据清洗到服务落地的全链路工程化闭环流程</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41300" marL="241300">
              <a:lnSpc>
                <a:spcPct val="108333"/>
              </a:lnSpc>
              <a:spcBef>
                <a:spcPts val="800"/>
              </a:spcBef>
              <a:buClr>
                <a:srgbClr val="000000"/>
              </a:buClr>
              <a:buFont typeface="Arial"/>
              <a:buChar char="•"/>
              <a:defRPr/>
            </a:pPr>
            <a:r>
              <a:rPr lang="en-US" b="true" i="false" strike="noStrike" u="none" sz="1900">
                <a:solidFill>
                  <a:srgbClr val="000000"/>
                </a:solidFill>
                <a:latin typeface="Songti SC"/>
                <a:ea typeface="Songti SC"/>
                <a:cs typeface="Songti SC"/>
                <a:sym typeface="Songti SC"/>
              </a:rPr>
              <a:t>全链路工程流程：</a:t>
            </a:r>
            <a:r>
              <a:rPr lang="en-US" b="false" i="false" strike="noStrike" u="none" sz="1800">
                <a:solidFill>
                  <a:srgbClr val="000000"/>
                </a:solidFill>
                <a:latin typeface="Songti SC"/>
                <a:ea typeface="Songti SC"/>
                <a:cs typeface="Songti SC"/>
                <a:sym typeface="Songti SC"/>
              </a:rPr>
              <a:t>涵盖原始分类目录读取、Strict JPEG数据清洗、类别一致性审计、重复与泄漏审计，经YOLOv12训练与Top-k推理验证，最终通过FastAPI封装与Vue前端呈现。</a:t>
            </a:r>
            <a:endParaRPr lang="en-US" sz="1100"/>
          </a:p>
          <a:p>
            <a:pPr algn="just" indent="-241300" marL="241300">
              <a:lnSpc>
                <a:spcPct val="108333"/>
              </a:lnSpc>
              <a:spcBef>
                <a:spcPts val="800"/>
              </a:spcBef>
              <a:buClr>
                <a:srgbClr val="000000"/>
              </a:buClr>
              <a:buFont typeface="Arial"/>
              <a:buChar char="•"/>
            </a:pPr>
            <a:r>
              <a:rPr lang="en-US" b="true" i="false" strike="noStrike" u="none" sz="1900">
                <a:solidFill>
                  <a:srgbClr val="000000"/>
                </a:solidFill>
                <a:latin typeface="Songti SC"/>
                <a:ea typeface="Songti SC"/>
                <a:cs typeface="Songti SC"/>
                <a:sym typeface="Songti SC"/>
              </a:rPr>
              <a:t>数据质量控制闭环：</a:t>
            </a:r>
            <a:r>
              <a:rPr lang="en-US" b="false" i="false" strike="noStrike" u="none" sz="1800">
                <a:solidFill>
                  <a:srgbClr val="000000"/>
                </a:solidFill>
                <a:latin typeface="Songti SC"/>
                <a:ea typeface="Songti SC"/>
                <a:cs typeface="Songti SC"/>
                <a:sym typeface="Songti SC"/>
              </a:rPr>
              <a:t>通过自动化脚本执行严格的清洗与审计，杜绝“垃圾进垃圾出”，从源头保障模型输入数据的纯净度与有效性。</a:t>
            </a:r>
          </a:p>
          <a:p>
            <a:pPr algn="just" indent="-241300" marL="241300">
              <a:lnSpc>
                <a:spcPct val="108333"/>
              </a:lnSpc>
              <a:spcBef>
                <a:spcPts val="800"/>
              </a:spcBef>
              <a:buClr>
                <a:srgbClr val="000000"/>
              </a:buClr>
              <a:buFont typeface="Arial"/>
              <a:buChar char="•"/>
            </a:pPr>
            <a:r>
              <a:rPr lang="en-US" b="true" i="false" strike="noStrike" u="none" sz="1900">
                <a:solidFill>
                  <a:srgbClr val="000000"/>
                </a:solidFill>
                <a:latin typeface="Songti SC"/>
                <a:ea typeface="Songti SC"/>
                <a:cs typeface="Songti SC"/>
                <a:sym typeface="Songti SC"/>
              </a:rPr>
              <a:t>高性能服务化交付：</a:t>
            </a:r>
            <a:r>
              <a:rPr lang="en-US" b="false" i="false" strike="noStrike" u="none" sz="1800">
                <a:solidFill>
                  <a:srgbClr val="000000"/>
                </a:solidFill>
                <a:latin typeface="Songti SC"/>
                <a:ea typeface="Songti SC"/>
                <a:cs typeface="Songti SC"/>
                <a:sym typeface="Songti SC"/>
              </a:rPr>
              <a:t>将训练成熟的模型封装为高并发FastAPI接口，结合现代化Vue前端实现算法能力的可视化、易用化交付，完成技术价值的商业转化。</a:t>
            </a:r>
          </a:p>
          <a:p>
            <a:pPr algn="just" indent="-241300" marL="241300">
              <a:lnSpc>
                <a:spcPct val="108333"/>
              </a:lnSpc>
              <a:spcBef>
                <a:spcPts val="800"/>
              </a:spcBef>
              <a:buClr>
                <a:srgbClr val="000000"/>
              </a:buClr>
              <a:buFont typeface="Arial"/>
              <a:buChar char="•"/>
            </a:pPr>
            <a:r>
              <a:rPr lang="en-US" b="true" i="false" strike="noStrike" u="none" sz="1900">
                <a:solidFill>
                  <a:srgbClr val="000000"/>
                </a:solidFill>
                <a:latin typeface="Songti SC"/>
                <a:ea typeface="Songti SC"/>
                <a:cs typeface="Songti SC"/>
                <a:sym typeface="Songti SC"/>
              </a:rPr>
              <a:t>关键节点保障：</a:t>
            </a:r>
            <a:r>
              <a:rPr lang="en-US" b="false" i="false" strike="noStrike" u="none" sz="1800">
                <a:solidFill>
                  <a:srgbClr val="000000"/>
                </a:solidFill>
                <a:latin typeface="Songti SC"/>
                <a:ea typeface="Songti SC"/>
                <a:cs typeface="Songti SC"/>
                <a:sym typeface="Songti SC"/>
              </a:rPr>
              <a:t>在训练前强化数据审计，在部署前执行独立验证，确保每一个环节的可追溯性与结果的可靠性，形成完整的质量保障体系。</a:t>
            </a:r>
          </a:p>
        </p:txBody>
      </p:sp>
      <p:sp>
        <p:nvSpPr>
          <p:cNvPr name="AutoShape 7" id="7"/>
          <p:cNvSpPr/>
          <p:nvPr/>
        </p:nvSpPr>
        <p:spPr>
          <a:xfrm rot="0" flipH="false" flipV="false">
            <a:off x="1282700" y="5499100"/>
            <a:ext cx="9525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核心目标：确保数据质量可控，实现算法价值的工程化转化与用户可感知的服务交付</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基础实验与训练结果对比分析</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实验背景：通过对比新旧训练策略下的模型指标，验证优化方案有效性</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28600" marL="228600">
              <a:lnSpc>
                <a:spcPct val="108333"/>
              </a:lnSpc>
              <a:buClr>
                <a:srgbClr val="000000"/>
              </a:buClr>
              <a:buFont typeface="Arial"/>
              <a:buChar char="•"/>
              <a:defRPr/>
            </a:pPr>
            <a:r>
              <a:rPr lang="en-US" b="true" i="false" strike="noStrike" u="none" sz="1800">
                <a:solidFill>
                  <a:srgbClr val="000000"/>
                </a:solidFill>
                <a:latin typeface="Songti SC"/>
                <a:ea typeface="Songti SC"/>
                <a:cs typeface="Songti SC"/>
                <a:sym typeface="Songti SC"/>
              </a:rPr>
              <a:t>旧基准模型 (Baseline)：</a:t>
            </a:r>
            <a:r>
              <a:rPr lang="en-US" b="false" i="false" strike="noStrike" u="none" sz="1800">
                <a:solidFill>
                  <a:srgbClr val="000000"/>
                </a:solidFill>
                <a:latin typeface="Songti SC"/>
                <a:ea typeface="Songti SC"/>
                <a:cs typeface="Songti SC"/>
                <a:sym typeface="Songti SC"/>
              </a:rPr>
              <a:t>采用CPU训练仅5个epoch，未使用预训练权重(pretrained: false)，受限于算力与训练轮次，模型拟合程度低，Top-1准确率仅0.1769，Top-5准确率为0.4957。</a:t>
            </a:r>
            <a:endParaRPr lang="en-US" sz="1100"/>
          </a:p>
          <a:p>
            <a:pPr algn="just" indent="-228600" marL="228600">
              <a:lnSpc>
                <a:spcPct val="108333"/>
              </a:lnSpc>
              <a:buClr>
                <a:srgbClr val="000000"/>
              </a:buClr>
              <a:buFont typeface="Arial"/>
              <a:buChar char="•"/>
            </a:pPr>
            <a:r>
              <a:rPr lang="en-US" b="true" i="false" strike="noStrike" u="none" sz="1800">
                <a:solidFill>
                  <a:srgbClr val="000000"/>
                </a:solidFill>
                <a:latin typeface="Songti SC"/>
                <a:ea typeface="Songti SC"/>
                <a:cs typeface="Songti SC"/>
                <a:sym typeface="Songti SC"/>
              </a:rPr>
              <a:t>新优化模型 (Optimized)：</a:t>
            </a:r>
            <a:r>
              <a:rPr lang="en-US" b="false" i="false" strike="noStrike" u="none" sz="1800">
                <a:solidFill>
                  <a:srgbClr val="000000"/>
                </a:solidFill>
                <a:latin typeface="Songti SC"/>
                <a:ea typeface="Songti SC"/>
                <a:cs typeface="Songti SC"/>
                <a:sym typeface="Songti SC"/>
              </a:rPr>
              <a:t>切换GPU加速训练100个epoch，启用迁移学习策略(pretrained: true)，充分挖掘数据特征，Top-1准确率大幅提升至0.6295，Top-5准确率达到0.8621。</a:t>
            </a:r>
          </a:p>
          <a:p>
            <a:pPr algn="just" indent="-228600" marL="228600">
              <a:lnSpc>
                <a:spcPct val="108333"/>
              </a:lnSpc>
              <a:buClr>
                <a:srgbClr val="000000"/>
              </a:buClr>
              <a:buFont typeface="Arial"/>
              <a:buChar char="•"/>
            </a:pPr>
            <a:r>
              <a:rPr lang="en-US" b="true" i="false" strike="noStrike" u="none" sz="1800">
                <a:solidFill>
                  <a:srgbClr val="000000"/>
                </a:solidFill>
                <a:latin typeface="Songti SC"/>
                <a:ea typeface="Songti SC"/>
                <a:cs typeface="Songti SC"/>
                <a:sym typeface="Songti SC"/>
              </a:rPr>
              <a:t>核心结论：</a:t>
            </a:r>
            <a:r>
              <a:rPr lang="en-US" b="false" i="false" strike="noStrike" u="none" sz="1800">
                <a:solidFill>
                  <a:srgbClr val="000000"/>
                </a:solidFill>
                <a:latin typeface="Songti SC"/>
                <a:ea typeface="Songti SC"/>
                <a:cs typeface="Songti SC"/>
                <a:sym typeface="Songti SC"/>
              </a:rPr>
              <a:t>GPU算力支持、充足的训练轮次以及迁移学习的引入，共同推动模型性能实现质的飞跃，验证了硬件升级与训练策略优化的必要性。</a:t>
            </a:r>
          </a:p>
        </p:txBody>
      </p:sp>
      <p:sp>
        <p:nvSpPr>
          <p:cNvPr name="AutoShape 7" id="7"/>
          <p:cNvSpPr/>
          <p:nvPr/>
        </p:nvSpPr>
        <p:spPr>
          <a:xfrm rot="0" flipH="false" flipV="false">
            <a:off x="1282700" y="5499100"/>
            <a:ext cx="9398000" cy="5080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true" i="false" strike="noStrike" u="none" sz="1800">
                <a:solidFill>
                  <a:srgbClr val="FF0000"/>
                </a:solidFill>
                <a:latin typeface="微软雅黑"/>
                <a:ea typeface="微软雅黑"/>
                <a:cs typeface="微软雅黑"/>
                <a:sym typeface="微软雅黑"/>
              </a:rPr>
              <a:t>关键产物路径：</a:t>
            </a:r>
            <a:r>
              <a:rPr lang="en-US" b="false" i="false" strike="noStrike" u="none" sz="1600">
                <a:solidFill>
                  <a:srgbClr val="505050"/>
                </a:solidFill>
                <a:latin typeface="Noto Sans SC"/>
                <a:ea typeface="Noto Sans SC"/>
                <a:cs typeface="Noto Sans SC"/>
                <a:sym typeface="Noto Sans SC"/>
              </a:rPr>
              <a:t>runs/train/strict_classify_yolo12n_cls_gpu_100e/weights/best.pt</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训练曲线与识别效果</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核心结论：模型在100 epoch后Top-1精度稳定至约63%，收敛状态理想</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54000" marL="254000">
              <a:lnSpc>
                <a:spcPct val="91666"/>
              </a:lnSpc>
              <a:spcBef>
                <a:spcPts val="1000"/>
              </a:spcBef>
              <a:buClr>
                <a:srgbClr val="000000"/>
              </a:buClr>
              <a:buFont typeface="Arial"/>
              <a:buChar char="•"/>
              <a:defRPr/>
            </a:pPr>
            <a:r>
              <a:rPr lang="en-US" b="false" i="false" strike="noStrike" u="none" sz="2000">
                <a:solidFill>
                  <a:srgbClr val="000000"/>
                </a:solidFill>
                <a:latin typeface="Songti SC"/>
                <a:ea typeface="Songti SC"/>
                <a:cs typeface="Songti SC"/>
                <a:sym typeface="Songti SC"/>
              </a:rPr>
              <a:t>训练过程分析：损失函数随epoch增加持续下降，Top-1与Top-5准确率稳步提升并最终趋于平稳，证明模型已充分学习数据特征并完成收敛。</a:t>
            </a:r>
            <a:r>
              <a:rPr lang="en-US" b="false" i="false" strike="noStrike" u="none" sz="2000">
                <a:solidFill>
                  <a:srgbClr val="000000"/>
                </a:solidFill>
                <a:latin typeface="Songti SC"/>
                <a:ea typeface="Songti SC"/>
                <a:cs typeface="Songti SC"/>
                <a:sym typeface="Songti SC"/>
              </a:rPr>
              <a:t/>
            </a:r>
            <a:endParaRPr lang="en-US" sz="1100"/>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实际识别效果：前端系统支持用户上传药材图像，可实时输出Top-5识别结果，界面交互流畅，推理响应速度满足实际应用需求。</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当前边界限制：模型对形态高度相似的难样本仍存在一定误判率，Top-1精度未达到100%，需针对细粒度特征进行针对性优化。</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false" i="false" strike="noStrike" u="none" sz="2000">
                <a:solidFill>
                  <a:srgbClr val="000000"/>
                </a:solidFill>
                <a:latin typeface="Songti SC"/>
                <a:ea typeface="Songti SC"/>
                <a:cs typeface="Songti SC"/>
                <a:sym typeface="Songti SC"/>
              </a:rPr>
              <a:t>后续优化方向：计划引入注意力机制强化关键特征提取，扩充难样本数据集进行专项训练，进一步提升模型的鲁棒性与识别精度。</a:t>
            </a:r>
          </a:p>
        </p:txBody>
      </p:sp>
      <p:sp>
        <p:nvSpPr>
          <p:cNvPr name="AutoShape 7" id="7"/>
          <p:cNvSpPr/>
          <p:nvPr/>
        </p:nvSpPr>
        <p:spPr>
          <a:xfrm rot="0" flipH="false" flipV="false">
            <a:off x="2667000" y="5499100"/>
            <a:ext cx="9398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边界说明：个别难样本仍可能误判，下一步将重点优化细粒度特征提取与样本增强策略</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当前问题与边界说明</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中药饮片细粒度分类面临的技术瓶颈与数据现状梳理</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54000" marL="254000">
              <a:lnSpc>
                <a:spcPct val="91666"/>
              </a:lnSpc>
              <a:spcBef>
                <a:spcPts val="1000"/>
              </a:spcBef>
              <a:buClr>
                <a:srgbClr val="000000"/>
              </a:buClr>
              <a:buFont typeface="Arial"/>
              <a:buChar char="•"/>
              <a:defRPr/>
            </a:pPr>
            <a:r>
              <a:rPr lang="en-US" b="true" i="false" strike="noStrike" u="none" sz="2000">
                <a:solidFill>
                  <a:srgbClr val="000000"/>
                </a:solidFill>
                <a:latin typeface="Songti SC"/>
                <a:ea typeface="Songti SC"/>
                <a:cs typeface="Songti SC"/>
                <a:sym typeface="Songti SC"/>
              </a:rPr>
              <a:t>细粒度分类存在误判：</a:t>
            </a:r>
            <a:r>
              <a:rPr lang="en-US" b="false" i="false" strike="noStrike" u="none" sz="1800">
                <a:solidFill>
                  <a:srgbClr val="1F2329"/>
                </a:solidFill>
                <a:latin typeface="Songti SC"/>
                <a:ea typeface="Songti SC"/>
                <a:cs typeface="Songti SC"/>
                <a:sym typeface="Songti SC"/>
              </a:rPr>
              <a:t>受纹理相似、颜色接近及形态破碎等因素影响，模型Top-1准确率约为63%，仍存在较多难分样本待优化。</a:t>
            </a:r>
            <a:r>
              <a:rPr lang="en-US" b="false" i="false" strike="noStrike" u="none" sz="2000">
                <a:solidFill>
                  <a:srgbClr val="000000"/>
                </a:solidFill>
                <a:latin typeface="Songti SC"/>
                <a:ea typeface="Songti SC"/>
                <a:cs typeface="Songti SC"/>
                <a:sym typeface="Songti SC"/>
              </a:rPr>
              <a:t/>
            </a:r>
            <a:endParaRPr lang="en-US" sz="1100"/>
          </a:p>
          <a:p>
            <a:pPr algn="just" indent="-254000" marL="254000">
              <a:lnSpc>
                <a:spcPct val="91666"/>
              </a:lnSpc>
              <a:spcBef>
                <a:spcPts val="1000"/>
              </a:spcBef>
              <a:buClr>
                <a:srgbClr val="000000"/>
              </a:buClr>
              <a:buFont typeface="Arial"/>
              <a:buChar char="•"/>
            </a:pPr>
            <a:r>
              <a:rPr lang="en-US" b="true" i="false" strike="noStrike" u="none" sz="2000">
                <a:solidFill>
                  <a:srgbClr val="000000"/>
                </a:solidFill>
                <a:latin typeface="Songti SC"/>
                <a:ea typeface="Songti SC"/>
                <a:cs typeface="Songti SC"/>
                <a:sym typeface="Songti SC"/>
              </a:rPr>
              <a:t>数据存在跨类别重复：</a:t>
            </a:r>
            <a:r>
              <a:rPr lang="en-US" b="false" i="false" strike="noStrike" u="none" sz="1800">
                <a:solidFill>
                  <a:srgbClr val="1F2329"/>
                </a:solidFill>
                <a:latin typeface="Songti SC"/>
                <a:ea typeface="Songti SC"/>
                <a:cs typeface="Songti SC"/>
                <a:sym typeface="Songti SC"/>
              </a:rPr>
              <a:t>发现34组跨类别重复图片，此类“毒数据”会提供矛盾标签，需人工介入决策以净化数据集。</a:t>
            </a:r>
            <a:r>
              <a:rPr lang="en-US" b="false" i="false" strike="noStrike" u="none" sz="2000">
                <a:solidFill>
                  <a:srgbClr val="000000"/>
                </a:solidFill>
                <a:latin typeface="Songti SC"/>
                <a:ea typeface="Songti SC"/>
                <a:cs typeface="Songti SC"/>
                <a:sym typeface="Songti SC"/>
              </a:rPr>
              <a:t/>
            </a:r>
          </a:p>
          <a:p>
            <a:pPr algn="just" indent="-254000" marL="254000">
              <a:lnSpc>
                <a:spcPct val="91666"/>
              </a:lnSpc>
              <a:spcBef>
                <a:spcPts val="1000"/>
              </a:spcBef>
              <a:buClr>
                <a:srgbClr val="000000"/>
              </a:buClr>
              <a:buFont typeface="Arial"/>
              <a:buChar char="•"/>
            </a:pPr>
            <a:r>
              <a:rPr lang="en-US" b="true" i="false" strike="noStrike" u="none" sz="2000">
                <a:solidFill>
                  <a:srgbClr val="000000"/>
                </a:solidFill>
                <a:latin typeface="Songti SC"/>
                <a:ea typeface="Songti SC"/>
                <a:cs typeface="Songti SC"/>
                <a:sym typeface="Songti SC"/>
              </a:rPr>
              <a:t>检测任务标注尚未落地：</a:t>
            </a:r>
            <a:r>
              <a:rPr lang="en-US" b="false" i="false" strike="noStrike" u="none" sz="1800">
                <a:solidFill>
                  <a:srgbClr val="1F2329"/>
                </a:solidFill>
                <a:latin typeface="Songti SC"/>
                <a:ea typeface="Songti SC"/>
                <a:cs typeface="Songti SC"/>
                <a:sym typeface="Songti SC"/>
              </a:rPr>
              <a:t>目前仅完成标注准备包搭建，labels/目录仍为空，暂不具备汇报检测任务相关指标的条件。</a:t>
            </a:r>
          </a:p>
        </p:txBody>
      </p:sp>
      <p:sp>
        <p:nvSpPr>
          <p:cNvPr name="AutoShape 7" id="7"/>
          <p:cNvSpPr/>
          <p:nvPr/>
        </p:nvSpPr>
        <p:spPr>
          <a:xfrm rot="0" flipH="false" flipV="false">
            <a:off x="1282700" y="5499100"/>
            <a:ext cx="9398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true" i="false" strike="noStrike" u="none" sz="1800">
                <a:solidFill>
                  <a:srgbClr val="FF0000"/>
                </a:solidFill>
                <a:latin typeface="微软雅黑"/>
                <a:ea typeface="微软雅黑"/>
                <a:cs typeface="微软雅黑"/>
                <a:sym typeface="微软雅黑"/>
              </a:rPr>
              <a:t>核心边界：当前阶段仅可汇报分类任务指标，真实检测任务指标因标注未完成暂不可汇报。</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52400" y="774700"/>
            <a:ext cx="11709400" cy="88900"/>
          </a:xfrm>
          <a:prstGeom prst="roundRect">
            <a:avLst>
              <a:gd name="adj" fmla="val 0"/>
            </a:avLst>
          </a:prstGeom>
          <a:solidFill>
            <a:srgbClr val="4874CB">
              <a:alpha val="100000"/>
            </a:srgbClr>
          </a:solidFill>
          <a:ln w="12700" cmpd="sng" cap="flat">
            <a:solidFill>
              <a:srgbClr val="FFFFFF">
                <a:alpha val="100000"/>
              </a:srgbClr>
            </a:solidFill>
            <a:prstDash val="solid"/>
            <a:miter lim="10000000"/>
          </a:ln>
          <a:effectLst>
            <a:outerShdw dir="5400000" dist="50800" blurRad="101600" algn="ctr" rotWithShape="false">
              <a:srgbClr val="FFFFFF">
                <a:alpha val="60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11010900" y="12700"/>
            <a:ext cx="1041400" cy="1041400"/>
          </a:xfrm>
          <a:prstGeom prst="rect">
            <a:avLst/>
          </a:prstGeom>
          <a:noFill/>
          <a:ln w="25400" cmpd="sng" cap="flat">
            <a:noFill/>
            <a:prstDash val="solid"/>
            <a:round/>
          </a:ln>
        </p:spPr>
      </p:pic>
      <p:sp>
        <p:nvSpPr>
          <p:cNvPr name="AutoShape 4" id="4"/>
          <p:cNvSpPr/>
          <p:nvPr/>
        </p:nvSpPr>
        <p:spPr>
          <a:xfrm rot="0" flipH="false" flipV="false">
            <a:off x="228600" y="-114300"/>
            <a:ext cx="10515600" cy="1320800"/>
          </a:xfrm>
          <a:prstGeom prst="rect">
            <a:avLst/>
          </a:prstGeom>
          <a:noFill/>
          <a:ln w="12700" cmpd="sng" cap="flat">
            <a:noFill/>
            <a:prstDash val="solid"/>
            <a:round/>
          </a:ln>
        </p:spPr>
        <p:txBody>
          <a:bodyPr anchor="ctr" rtlCol="false" anchorCtr="false" vert="horz" wrap="square" lIns="88900" rIns="88900" tIns="50800" bIns="50800"/>
          <a:lstStyle/>
          <a:p>
            <a:pPr algn="l" marL="0" indent="0">
              <a:lnSpc>
                <a:spcPct val="91666"/>
              </a:lnSpc>
              <a:defRPr/>
            </a:pPr>
            <a:r>
              <a:rPr lang="en-US" b="true" i="false" strike="noStrike" u="none" sz="4000">
                <a:solidFill>
                  <a:srgbClr val="000000"/>
                </a:solidFill>
                <a:latin typeface="Noto Sans SC"/>
                <a:ea typeface="Noto Sans SC"/>
                <a:cs typeface="Noto Sans SC"/>
                <a:sym typeface="Noto Sans SC"/>
              </a:rPr>
              <a:t>后续改进计划</a:t>
            </a:r>
            <a:endParaRPr lang="en-US" sz="1100"/>
          </a:p>
        </p:txBody>
      </p:sp>
      <p:sp>
        <p:nvSpPr>
          <p:cNvPr name="AutoShape 5" id="5"/>
          <p:cNvSpPr/>
          <p:nvPr/>
        </p:nvSpPr>
        <p:spPr>
          <a:xfrm rot="0" flipH="false" flipV="false">
            <a:off x="1282700" y="1282700"/>
            <a:ext cx="9105900" cy="4572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2400">
                <a:solidFill>
                  <a:srgbClr val="FF0000"/>
                </a:solidFill>
                <a:latin typeface="微软雅黑"/>
                <a:ea typeface="微软雅黑"/>
                <a:cs typeface="微软雅黑"/>
                <a:sym typeface="微软雅黑"/>
              </a:rPr>
              <a:t>核心策略：先夯实数据基础，再优化模型精度，最终拓展检测任务边界</a:t>
            </a:r>
            <a:endParaRPr lang="en-US" sz="1100"/>
          </a:p>
        </p:txBody>
      </p:sp>
      <p:sp>
        <p:nvSpPr>
          <p:cNvPr name="AutoShape 6" id="6"/>
          <p:cNvSpPr/>
          <p:nvPr/>
        </p:nvSpPr>
        <p:spPr>
          <a:xfrm rot="0" flipH="false" flipV="false">
            <a:off x="838200" y="2184400"/>
            <a:ext cx="10515600" cy="2921000"/>
          </a:xfrm>
          <a:prstGeom prst="rect">
            <a:avLst/>
          </a:prstGeom>
          <a:noFill/>
          <a:ln w="12700" cmpd="sng" cap="flat">
            <a:noFill/>
            <a:prstDash val="solid"/>
            <a:round/>
          </a:ln>
        </p:spPr>
        <p:txBody>
          <a:bodyPr anchor="t" rtlCol="false" anchorCtr="false" vert="horz" wrap="square" lIns="88900" rIns="88900" tIns="50800" bIns="50800"/>
          <a:lstStyle/>
          <a:p>
            <a:pPr algn="just" indent="-228600" marL="228600">
              <a:lnSpc>
                <a:spcPct val="100000"/>
              </a:lnSpc>
              <a:spcBef>
                <a:spcPts val="800"/>
              </a:spcBef>
              <a:buClr>
                <a:srgbClr val="4874CB"/>
              </a:buClr>
              <a:buFont typeface="Arial"/>
              <a:buChar char="•"/>
              <a:defRPr/>
            </a:pPr>
            <a:r>
              <a:rPr lang="en-US" b="true" i="false" strike="noStrike" u="none" sz="1800">
                <a:solidFill>
                  <a:srgbClr val="4874CB"/>
                </a:solidFill>
                <a:latin typeface="Songti SC"/>
                <a:ea typeface="Songti SC"/>
                <a:cs typeface="Songti SC"/>
                <a:sym typeface="Songti SC"/>
              </a:rPr>
              <a:t>短期数据清理：</a:t>
            </a:r>
            <a:r>
              <a:rPr lang="en-US" b="false" i="false" strike="noStrike" u="none" sz="1800">
                <a:solidFill>
                  <a:srgbClr val="000000"/>
                </a:solidFill>
                <a:latin typeface="Songti SC"/>
                <a:ea typeface="Songti SC"/>
                <a:cs typeface="Songti SC"/>
                <a:sym typeface="Songti SC"/>
              </a:rPr>
              <a:t>人工决策处理34组跨类别重复图片，基于清理后的数据重新训练模型，并针对性补充难分类类别的样本，确保数据质量。</a:t>
            </a:r>
            <a:endParaRPr lang="en-US" sz="1100"/>
          </a:p>
          <a:p>
            <a:pPr algn="just" indent="-228600" marL="228600">
              <a:lnSpc>
                <a:spcPct val="100000"/>
              </a:lnSpc>
              <a:spcBef>
                <a:spcPts val="800"/>
              </a:spcBef>
              <a:buClr>
                <a:srgbClr val="4874CB"/>
              </a:buClr>
              <a:buFont typeface="Arial"/>
              <a:buChar char="•"/>
            </a:pPr>
            <a:r>
              <a:rPr lang="en-US" b="true" i="false" strike="noStrike" u="none" sz="1800">
                <a:solidFill>
                  <a:srgbClr val="4874CB"/>
                </a:solidFill>
                <a:latin typeface="Songti SC"/>
                <a:ea typeface="Songti SC"/>
                <a:cs typeface="Songti SC"/>
                <a:sym typeface="Songti SC"/>
              </a:rPr>
              <a:t>模型精度升级：</a:t>
            </a:r>
            <a:r>
              <a:rPr lang="en-US" b="false" i="false" strike="noStrike" u="none" sz="1800">
                <a:solidFill>
                  <a:srgbClr val="000000"/>
                </a:solidFill>
                <a:latin typeface="Songti SC"/>
                <a:ea typeface="Songti SC"/>
                <a:cs typeface="Songti SC"/>
                <a:sym typeface="Songti SC"/>
              </a:rPr>
              <a:t>将基础模型从yolo12n-cls升级至yolo12s-cls，提升输入尺寸至320/384，同时对比不同batch、学习率及增强策略进行超参数调优。</a:t>
            </a:r>
          </a:p>
          <a:p>
            <a:pPr algn="just" indent="-228600" marL="228600">
              <a:lnSpc>
                <a:spcPct val="100000"/>
              </a:lnSpc>
              <a:spcBef>
                <a:spcPts val="800"/>
              </a:spcBef>
              <a:buClr>
                <a:srgbClr val="4874CB"/>
              </a:buClr>
              <a:buFont typeface="Arial"/>
              <a:buChar char="•"/>
            </a:pPr>
            <a:r>
              <a:rPr lang="en-US" b="true" i="false" strike="noStrike" u="none" sz="1800">
                <a:solidFill>
                  <a:srgbClr val="4874CB"/>
                </a:solidFill>
                <a:latin typeface="Songti SC"/>
                <a:ea typeface="Songti SC"/>
                <a:cs typeface="Songti SC"/>
                <a:sym typeface="Songti SC"/>
              </a:rPr>
              <a:t>检测任务扩展：</a:t>
            </a:r>
            <a:r>
              <a:rPr lang="en-US" b="false" i="false" strike="noStrike" u="none" sz="1800">
                <a:solidFill>
                  <a:srgbClr val="000000"/>
                </a:solidFill>
                <a:latin typeface="Songti SC"/>
                <a:ea typeface="Songti SC"/>
                <a:cs typeface="Songti SC"/>
                <a:sym typeface="Songti SC"/>
              </a:rPr>
              <a:t>完成目标检测的bbox标注与数据校验工作，训练专用检测模型，并重点关注mAP等核心指标的表现与汇报。</a:t>
            </a:r>
          </a:p>
          <a:p>
            <a:pPr algn="just" indent="-228600" marL="228600">
              <a:lnSpc>
                <a:spcPct val="100000"/>
              </a:lnSpc>
              <a:spcBef>
                <a:spcPts val="800"/>
              </a:spcBef>
              <a:buClr>
                <a:srgbClr val="000000"/>
              </a:buClr>
              <a:buFont typeface="Arial"/>
              <a:buChar char="•"/>
            </a:pPr>
            <a:r>
              <a:rPr lang="en-US" b="true" i="false" strike="noStrike" u="none" sz="1800">
                <a:solidFill>
                  <a:srgbClr val="000000"/>
                </a:solidFill>
                <a:latin typeface="Songti SC"/>
                <a:ea typeface="Songti SC"/>
                <a:cs typeface="Songti SC"/>
                <a:sym typeface="Songti SC"/>
              </a:rPr>
              <a:t>实施逻辑：</a:t>
            </a:r>
            <a:r>
              <a:rPr lang="en-US" b="false" i="false" strike="noStrike" u="none" sz="1800">
                <a:solidFill>
                  <a:srgbClr val="000000"/>
                </a:solidFill>
                <a:latin typeface="Songti SC"/>
                <a:ea typeface="Songti SC"/>
                <a:cs typeface="Songti SC"/>
                <a:sym typeface="Songti SC"/>
              </a:rPr>
              <a:t>坚持“先分类、后检测”的推进节奏，在确保分类识别的准确率与稳定性达到预期后，再启动更复杂的目标检测任务开发。</a:t>
            </a:r>
          </a:p>
        </p:txBody>
      </p:sp>
      <p:sp>
        <p:nvSpPr>
          <p:cNvPr name="AutoShape 7" id="7"/>
          <p:cNvSpPr/>
          <p:nvPr/>
        </p:nvSpPr>
        <p:spPr>
          <a:xfrm rot="0" flipH="false" flipV="false">
            <a:off x="1282700" y="5499100"/>
            <a:ext cx="9525000" cy="368300"/>
          </a:xfrm>
          <a:prstGeom prst="rect">
            <a:avLst/>
          </a:prstGeom>
          <a:noFill/>
          <a:ln w="12700" cmpd="sng" cap="flat">
            <a:noFill/>
            <a:prstDash val="solid"/>
            <a:round/>
          </a:ln>
        </p:spPr>
        <p:txBody>
          <a:bodyPr anchor="t" rtlCol="false" anchorCtr="false" vert="horz" wrap="square" lIns="88900" rIns="88900" tIns="50800" bIns="50800"/>
          <a:lstStyle/>
          <a:p>
            <a:pPr algn="l" marL="0" indent="0">
              <a:lnSpc>
                <a:spcPct val="100000"/>
              </a:lnSpc>
              <a:defRPr/>
            </a:pPr>
            <a:r>
              <a:rPr lang="en-US" b="false" i="false" strike="noStrike" u="none" sz="1800">
                <a:solidFill>
                  <a:srgbClr val="FF0000"/>
                </a:solidFill>
                <a:latin typeface="微软雅黑"/>
                <a:ea typeface="微软雅黑"/>
                <a:cs typeface="微软雅黑"/>
                <a:sym typeface="微软雅黑"/>
              </a:rPr>
              <a:t>关键原则：分类识别可靠先行，稳步推进检测任务落地，确保每一步改进可验证</a:t>
            </a:r>
            <a:endParaRPr lang="en-US" sz="1100"/>
          </a:p>
        </p:txBody>
      </p:sp>
      <p:pic>
        <p:nvPicPr>
          <p:cNvPr name="Picture 8" id="8"/>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{"Label":"1","ContentProducer":"001191110102MACQD9K64010000","ProduceID":"7649317916807695601","ReservedCode1":"","ContentPropagator":"","PropagateID":"","ReservedCode2":""}</vt:lpwstr>
  </property>
</Properties>
</file>